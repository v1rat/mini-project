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8288000" cy="10287000"/>
  <p:notesSz cx="68580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1241" autoAdjust="0"/>
  </p:normalViewPr>
  <p:slideViewPr>
    <p:cSldViewPr>
      <p:cViewPr varScale="1">
        <p:scale>
          <a:sx n="45" d="100"/>
          <a:sy n="45" d="100"/>
        </p:scale>
        <p:origin x="68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620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438400" y="859040"/>
            <a:ext cx="7391400" cy="495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From Code to Health Insights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90E948E-3961-B09E-4D85-27915A9E9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603988"/>
              </p:ext>
            </p:extLst>
          </p:nvPr>
        </p:nvGraphicFramePr>
        <p:xfrm>
          <a:off x="-1138" y="2552700"/>
          <a:ext cx="11278736" cy="63246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5639368">
                  <a:extLst>
                    <a:ext uri="{9D8B030D-6E8A-4147-A177-3AD203B41FA5}">
                      <a16:colId xmlns:a16="http://schemas.microsoft.com/office/drawing/2014/main" val="2005857789"/>
                    </a:ext>
                  </a:extLst>
                </a:gridCol>
                <a:gridCol w="5639368">
                  <a:extLst>
                    <a:ext uri="{9D8B030D-6E8A-4147-A177-3AD203B41FA5}">
                      <a16:colId xmlns:a16="http://schemas.microsoft.com/office/drawing/2014/main" val="3370814005"/>
                    </a:ext>
                  </a:extLst>
                </a:gridCol>
              </a:tblGrid>
              <a:tr h="105410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           NAME</a:t>
                      </a:r>
                      <a:endParaRPr lang="en-IN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        PRN</a:t>
                      </a:r>
                      <a:endParaRPr lang="en-IN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998857"/>
                  </a:ext>
                </a:extLst>
              </a:tr>
              <a:tr h="10541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Raghav Bhadada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1262251534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9825"/>
                  </a:ext>
                </a:extLst>
              </a:tr>
              <a:tr h="10541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Tanush Pandey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1262253348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048069"/>
                  </a:ext>
                </a:extLst>
              </a:tr>
              <a:tr h="10541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Ayushman Gautam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1262251925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313216"/>
                  </a:ext>
                </a:extLst>
              </a:tr>
              <a:tr h="10541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Virat Pratap Singh 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1262253321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24124"/>
                  </a:ext>
                </a:extLst>
              </a:tr>
              <a:tr h="10541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Abhishaurya Gautam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1262253414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909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880167"/>
            <a:ext cx="9923859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Why C for a Fitness Tracker?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2909297"/>
            <a:ext cx="10355161" cy="5779589"/>
            <a:chOff x="0" y="0"/>
            <a:chExt cx="13806881" cy="7706119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3806932" cy="7706106"/>
            </a:xfrm>
            <a:custGeom>
              <a:avLst/>
              <a:gdLst/>
              <a:ahLst/>
              <a:cxnLst/>
              <a:rect l="l" t="t" r="r" b="b"/>
              <a:pathLst>
                <a:path w="13806932" h="7706106">
                  <a:moveTo>
                    <a:pt x="0" y="0"/>
                  </a:moveTo>
                  <a:lnTo>
                    <a:pt x="13806932" y="0"/>
                  </a:lnTo>
                  <a:lnTo>
                    <a:pt x="13806932" y="7706106"/>
                  </a:lnTo>
                  <a:lnTo>
                    <a:pt x="0" y="7706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5" b="-2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048677" y="2389289"/>
            <a:ext cx="5256457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 is a powerful and efficient language, making it an excellent choice for applications requiring direct system interaction and optimal performance. For a fitness tracker, this means: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48677" y="4912519"/>
            <a:ext cx="5256457" cy="416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Performance: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Fast execution for real-time data processing.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Resource Efficiency: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Minimal memory footprint, ideal for embedded systems or simpler devices.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Fundamental Learning: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 solid foundation for understanding how software interacts with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127817"/>
            <a:ext cx="12509602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Core Features: What We're Tracking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2609402"/>
            <a:ext cx="3810000" cy="3810000"/>
            <a:chOff x="0" y="0"/>
            <a:chExt cx="5080000" cy="50800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5080000" cy="5080000"/>
            </a:xfrm>
            <a:custGeom>
              <a:avLst/>
              <a:gdLst/>
              <a:ahLst/>
              <a:cxnLst/>
              <a:rect l="l" t="t" r="r" b="b"/>
              <a:pathLst>
                <a:path w="5080000" h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5080000"/>
                  </a:lnTo>
                  <a:lnTo>
                    <a:pt x="0" y="508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92238" y="6683873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Daily Steps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7230218"/>
            <a:ext cx="3810000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Input and track the number of steps walked each day towards a predefined goal.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156597" y="2609402"/>
            <a:ext cx="3810152" cy="3810152"/>
            <a:chOff x="0" y="0"/>
            <a:chExt cx="5080203" cy="5080203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5080254" cy="5080254"/>
            </a:xfrm>
            <a:custGeom>
              <a:avLst/>
              <a:gdLst/>
              <a:ahLst/>
              <a:cxnLst/>
              <a:rect l="l" t="t" r="r" b="b"/>
              <a:pathLst>
                <a:path w="5080254" h="5080254">
                  <a:moveTo>
                    <a:pt x="0" y="0"/>
                  </a:moveTo>
                  <a:lnTo>
                    <a:pt x="5080254" y="0"/>
                  </a:lnTo>
                  <a:lnTo>
                    <a:pt x="5080254" y="5080254"/>
                  </a:lnTo>
                  <a:lnTo>
                    <a:pt x="0" y="5080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156597" y="6684016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Calories Burned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56597" y="7230370"/>
            <a:ext cx="3810152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Record the estimated calories expended daily to monitor energy balance.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21108" y="2609402"/>
            <a:ext cx="3810152" cy="3810152"/>
            <a:chOff x="0" y="0"/>
            <a:chExt cx="5080203" cy="5080203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5080254" cy="5080254"/>
            </a:xfrm>
            <a:custGeom>
              <a:avLst/>
              <a:gdLst/>
              <a:ahLst/>
              <a:cxnLst/>
              <a:rect l="l" t="t" r="r" b="b"/>
              <a:pathLst>
                <a:path w="5080254" h="5080254">
                  <a:moveTo>
                    <a:pt x="0" y="0"/>
                  </a:moveTo>
                  <a:lnTo>
                    <a:pt x="5080254" y="0"/>
                  </a:lnTo>
                  <a:lnTo>
                    <a:pt x="5080254" y="5080254"/>
                  </a:lnTo>
                  <a:lnTo>
                    <a:pt x="0" y="5080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321108" y="6684016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Water Intake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21108" y="7230370"/>
            <a:ext cx="3810152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Log daily water consumption in liters to ensure adequate hydration.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485609" y="2609402"/>
            <a:ext cx="3810152" cy="3810152"/>
            <a:chOff x="0" y="0"/>
            <a:chExt cx="5080203" cy="5080203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5080254" cy="5080254"/>
            </a:xfrm>
            <a:custGeom>
              <a:avLst/>
              <a:gdLst/>
              <a:ahLst/>
              <a:cxnLst/>
              <a:rect l="l" t="t" r="r" b="b"/>
              <a:pathLst>
                <a:path w="5080254" h="5080254">
                  <a:moveTo>
                    <a:pt x="0" y="0"/>
                  </a:moveTo>
                  <a:lnTo>
                    <a:pt x="5080254" y="0"/>
                  </a:lnTo>
                  <a:lnTo>
                    <a:pt x="5080254" y="5080254"/>
                  </a:lnTo>
                  <a:lnTo>
                    <a:pt x="0" y="5080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485609" y="6684016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BMI Calculation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85609" y="7230370"/>
            <a:ext cx="3810152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Calculate Body Mass Index (BMI) based on height and weight for a health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532182"/>
            <a:ext cx="12446641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Setting Up Your Tracker: Initial Input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8041" y="2871940"/>
            <a:ext cx="5664841" cy="5854303"/>
            <a:chOff x="0" y="0"/>
            <a:chExt cx="7553122" cy="78057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553071" cy="7805674"/>
            </a:xfrm>
            <a:custGeom>
              <a:avLst/>
              <a:gdLst/>
              <a:ahLst/>
              <a:cxnLst/>
              <a:rect l="l" t="t" r="r" b="b"/>
              <a:pathLst>
                <a:path w="7553071" h="7805674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7280910" y="0"/>
                  </a:lnTo>
                  <a:cubicBezTo>
                    <a:pt x="7431278" y="0"/>
                    <a:pt x="7553071" y="121920"/>
                    <a:pt x="7553071" y="272161"/>
                  </a:cubicBezTo>
                  <a:lnTo>
                    <a:pt x="7553071" y="7533513"/>
                  </a:lnTo>
                  <a:cubicBezTo>
                    <a:pt x="7553071" y="7683881"/>
                    <a:pt x="7431151" y="7805674"/>
                    <a:pt x="7280910" y="7805674"/>
                  </a:cubicBezTo>
                  <a:lnTo>
                    <a:pt x="272161" y="7805674"/>
                  </a:lnTo>
                  <a:cubicBezTo>
                    <a:pt x="121920" y="7805801"/>
                    <a:pt x="0" y="7683881"/>
                    <a:pt x="0" y="7533513"/>
                  </a:cubicBezTo>
                  <a:close/>
                </a:path>
              </a:pathLst>
            </a:custGeom>
            <a:solidFill>
              <a:srgbClr val="F0F8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1562" y="3136402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Input Requirements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562" y="3796160"/>
            <a:ext cx="5097809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Before tracking begins, the program needs a few essential pieces of information from the user: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1562" y="5412134"/>
            <a:ext cx="5097809" cy="280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Tracking Duration: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How many days will you be tracking your fitness?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Daily Step Goal: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What's your target number of steps for each day?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949973" y="3190875"/>
            <a:ext cx="10355161" cy="4054078"/>
            <a:chOff x="0" y="0"/>
            <a:chExt cx="13806881" cy="54054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806932" cy="5405374"/>
            </a:xfrm>
            <a:custGeom>
              <a:avLst/>
              <a:gdLst/>
              <a:ahLst/>
              <a:cxnLst/>
              <a:rect l="l" t="t" r="r" b="b"/>
              <a:pathLst>
                <a:path w="13806932" h="5405374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3648182" y="0"/>
                  </a:lnTo>
                  <a:cubicBezTo>
                    <a:pt x="13735813" y="0"/>
                    <a:pt x="13806932" y="71120"/>
                    <a:pt x="13806932" y="158750"/>
                  </a:cubicBezTo>
                  <a:lnTo>
                    <a:pt x="13806932" y="5246624"/>
                  </a:lnTo>
                  <a:cubicBezTo>
                    <a:pt x="13806932" y="5334254"/>
                    <a:pt x="13735813" y="5405374"/>
                    <a:pt x="13648182" y="5405374"/>
                  </a:cubicBezTo>
                  <a:lnTo>
                    <a:pt x="158750" y="5405374"/>
                  </a:lnTo>
                  <a:cubicBezTo>
                    <a:pt x="71120" y="5405374"/>
                    <a:pt x="0" y="5334254"/>
                    <a:pt x="0" y="5246624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935838" y="3190875"/>
            <a:ext cx="10383441" cy="4054078"/>
            <a:chOff x="0" y="0"/>
            <a:chExt cx="13844588" cy="54054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44524" cy="5405374"/>
            </a:xfrm>
            <a:custGeom>
              <a:avLst/>
              <a:gdLst/>
              <a:ahLst/>
              <a:cxnLst/>
              <a:rect l="l" t="t" r="r" b="b"/>
              <a:pathLst>
                <a:path w="13844524" h="540537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3787881" y="0"/>
                  </a:lnTo>
                  <a:cubicBezTo>
                    <a:pt x="13819251" y="0"/>
                    <a:pt x="13844524" y="25400"/>
                    <a:pt x="13844524" y="56642"/>
                  </a:cubicBezTo>
                  <a:lnTo>
                    <a:pt x="13844524" y="5348732"/>
                  </a:lnTo>
                  <a:cubicBezTo>
                    <a:pt x="13844524" y="5380101"/>
                    <a:pt x="13819124" y="5405374"/>
                    <a:pt x="13787881" y="5405374"/>
                  </a:cubicBezTo>
                  <a:lnTo>
                    <a:pt x="56642" y="5405374"/>
                  </a:lnTo>
                  <a:cubicBezTo>
                    <a:pt x="25273" y="5405374"/>
                    <a:pt x="0" y="5379974"/>
                    <a:pt x="0" y="5348732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19359" y="3241472"/>
            <a:ext cx="11799803" cy="452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2"/>
              </a:lnSpc>
            </a:pPr>
            <a:r>
              <a:rPr lang="en-US" sz="262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int days;</a:t>
            </a:r>
          </a:p>
          <a:p>
            <a:pPr algn="l">
              <a:lnSpc>
                <a:spcPts val="4282"/>
              </a:lnSpc>
            </a:pPr>
            <a:r>
              <a:rPr lang="en-US" sz="262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printf("Enter the number of days to track: ");</a:t>
            </a:r>
          </a:p>
          <a:p>
            <a:pPr algn="l">
              <a:lnSpc>
                <a:spcPts val="4282"/>
              </a:lnSpc>
            </a:pPr>
            <a:r>
              <a:rPr lang="en-US" sz="262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scanf("%d", &amp;days);</a:t>
            </a:r>
          </a:p>
          <a:p>
            <a:pPr algn="l">
              <a:lnSpc>
                <a:spcPts val="4282"/>
              </a:lnSpc>
            </a:pPr>
            <a:endParaRPr lang="en-US" sz="2629">
              <a:solidFill>
                <a:srgbClr val="27252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4282"/>
              </a:lnSpc>
            </a:pPr>
            <a:r>
              <a:rPr lang="en-US" sz="262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int stepgoal;</a:t>
            </a:r>
          </a:p>
          <a:p>
            <a:pPr algn="l">
              <a:lnSpc>
                <a:spcPts val="4282"/>
              </a:lnSpc>
            </a:pPr>
            <a:r>
              <a:rPr lang="en-US" sz="262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printf("Enter your daily step goal: ");</a:t>
            </a:r>
          </a:p>
          <a:p>
            <a:pPr algn="l">
              <a:lnSpc>
                <a:spcPts val="4282"/>
              </a:lnSpc>
            </a:pPr>
            <a:r>
              <a:rPr lang="en-US" sz="262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scanf("%d", &amp;stepgoal);</a:t>
            </a:r>
          </a:p>
          <a:p>
            <a:pPr algn="l">
              <a:lnSpc>
                <a:spcPts val="4282"/>
              </a:lnSpc>
            </a:pPr>
            <a:r>
              <a:rPr lang="en-US" sz="262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49973" y="7478163"/>
            <a:ext cx="10355161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initial setup customizes the tracking period and personalizes the step challenge.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80484" y="751284"/>
            <a:ext cx="7328297" cy="894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Daily Data Entry Loop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40053" y="2199237"/>
            <a:ext cx="15607903" cy="6118774"/>
            <a:chOff x="0" y="0"/>
            <a:chExt cx="20810538" cy="8158366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20810601" cy="8158353"/>
            </a:xfrm>
            <a:custGeom>
              <a:avLst/>
              <a:gdLst/>
              <a:ahLst/>
              <a:cxnLst/>
              <a:rect l="l" t="t" r="r" b="b"/>
              <a:pathLst>
                <a:path w="20810601" h="8158353">
                  <a:moveTo>
                    <a:pt x="0" y="0"/>
                  </a:moveTo>
                  <a:lnTo>
                    <a:pt x="20810601" y="0"/>
                  </a:lnTo>
                  <a:lnTo>
                    <a:pt x="20810601" y="8158353"/>
                  </a:lnTo>
                  <a:lnTo>
                    <a:pt x="0" y="8158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r="-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13614" y="2480262"/>
            <a:ext cx="2857195" cy="478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874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Enter Steps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6905" y="2480262"/>
            <a:ext cx="2857195" cy="478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4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Enter Calories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16905" y="7080342"/>
            <a:ext cx="2857195" cy="937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74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Enter Water Intake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3614" y="7080342"/>
            <a:ext cx="2857195" cy="937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874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Next Day Repeat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0484" y="8543630"/>
            <a:ext cx="16327041" cy="97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For each day of the tracking period, the program systematically prompts the user to input their fitness metrics. This loop ensures all relevant data is captured consistently.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057427"/>
            <a:ext cx="12661106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Tracking Progress: Variables &amp; Logic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566540"/>
            <a:ext cx="5256457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Several key variables are used to store and process the daily fitness data, enabling comprehensive summary statistics: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636141"/>
            <a:ext cx="5256457" cy="416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Total Steps: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Accumulates steps over all days.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Total Calories: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Sums up calories burned for the entire period.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Maximum Steps &amp; Best Day: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Identifies the day with the highest step count.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Goal Met Count: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Tracks how many days the step goal was achieved.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949973" y="2909297"/>
            <a:ext cx="10355161" cy="5779589"/>
            <a:chOff x="0" y="0"/>
            <a:chExt cx="13806881" cy="7706119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806932" cy="7706106"/>
            </a:xfrm>
            <a:custGeom>
              <a:avLst/>
              <a:gdLst/>
              <a:ahLst/>
              <a:cxnLst/>
              <a:rect l="l" t="t" r="r" b="b"/>
              <a:pathLst>
                <a:path w="13806932" h="7706106">
                  <a:moveTo>
                    <a:pt x="0" y="0"/>
                  </a:moveTo>
                  <a:lnTo>
                    <a:pt x="13806932" y="0"/>
                  </a:lnTo>
                  <a:lnTo>
                    <a:pt x="13806932" y="7706106"/>
                  </a:lnTo>
                  <a:lnTo>
                    <a:pt x="0" y="7706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5" b="-2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74227" y="764381"/>
            <a:ext cx="10176720" cy="898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Fitness Summary: At a Glance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4227" y="2133152"/>
            <a:ext cx="16339547" cy="958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Once all daily data is entered, the program generates a comprehensive fitness summary. This output provides valuable insights into overall activity and performance.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74227" y="3816553"/>
            <a:ext cx="8033147" cy="2493321"/>
            <a:chOff x="0" y="0"/>
            <a:chExt cx="10710862" cy="33244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10799" cy="3324479"/>
            </a:xfrm>
            <a:custGeom>
              <a:avLst/>
              <a:gdLst/>
              <a:ahLst/>
              <a:cxnLst/>
              <a:rect l="l" t="t" r="r" b="b"/>
              <a:pathLst>
                <a:path w="10710799" h="3324479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66959" y="0"/>
                  </a:lnTo>
                  <a:cubicBezTo>
                    <a:pt x="10601578" y="0"/>
                    <a:pt x="10710799" y="109220"/>
                    <a:pt x="10710799" y="243840"/>
                  </a:cubicBezTo>
                  <a:lnTo>
                    <a:pt x="10710799" y="3080639"/>
                  </a:lnTo>
                  <a:cubicBezTo>
                    <a:pt x="10710799" y="3215259"/>
                    <a:pt x="10601578" y="3324479"/>
                    <a:pt x="10466959" y="3324479"/>
                  </a:cubicBezTo>
                  <a:lnTo>
                    <a:pt x="243840" y="3324479"/>
                  </a:lnTo>
                  <a:cubicBezTo>
                    <a:pt x="109220" y="3324479"/>
                    <a:pt x="0" y="3215259"/>
                    <a:pt x="0" y="308063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4227" y="3778453"/>
            <a:ext cx="8033147" cy="152400"/>
            <a:chOff x="0" y="0"/>
            <a:chExt cx="10710862" cy="203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10926" cy="203200"/>
            </a:xfrm>
            <a:custGeom>
              <a:avLst/>
              <a:gdLst/>
              <a:ahLst/>
              <a:cxnLst/>
              <a:rect l="l" t="t" r="r" b="b"/>
              <a:pathLst>
                <a:path w="10710926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609326" y="0"/>
                  </a:lnTo>
                  <a:cubicBezTo>
                    <a:pt x="10665460" y="0"/>
                    <a:pt x="10710926" y="45466"/>
                    <a:pt x="10710926" y="101600"/>
                  </a:cubicBezTo>
                  <a:cubicBezTo>
                    <a:pt x="10710926" y="157734"/>
                    <a:pt x="10665460" y="203200"/>
                    <a:pt x="10609326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3267" y="3399082"/>
            <a:ext cx="835076" cy="835076"/>
            <a:chOff x="0" y="0"/>
            <a:chExt cx="1113434" cy="11134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13409" cy="1113409"/>
            </a:xfrm>
            <a:custGeom>
              <a:avLst/>
              <a:gdLst/>
              <a:ahLst/>
              <a:cxnLst/>
              <a:rect l="l" t="t" r="r" b="b"/>
              <a:pathLst>
                <a:path w="1113409" h="1113409">
                  <a:moveTo>
                    <a:pt x="0" y="556768"/>
                  </a:moveTo>
                  <a:cubicBezTo>
                    <a:pt x="0" y="249301"/>
                    <a:pt x="249301" y="0"/>
                    <a:pt x="556768" y="0"/>
                  </a:cubicBezTo>
                  <a:cubicBezTo>
                    <a:pt x="864235" y="0"/>
                    <a:pt x="1113409" y="249301"/>
                    <a:pt x="1113409" y="556768"/>
                  </a:cubicBezTo>
                  <a:cubicBezTo>
                    <a:pt x="1113409" y="864235"/>
                    <a:pt x="864235" y="1113409"/>
                    <a:pt x="556768" y="1113409"/>
                  </a:cubicBezTo>
                  <a:cubicBezTo>
                    <a:pt x="249301" y="1113409"/>
                    <a:pt x="0" y="864235"/>
                    <a:pt x="0" y="556768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23746" y="3512639"/>
            <a:ext cx="333966" cy="51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0638" y="4502944"/>
            <a:ext cx="3479597" cy="44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Overall Activity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0638" y="5035001"/>
            <a:ext cx="7400334" cy="958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Total steps walked and total calories burned across the tracking period.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80627" y="3816553"/>
            <a:ext cx="8033147" cy="2493321"/>
            <a:chOff x="0" y="0"/>
            <a:chExt cx="10710862" cy="33244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10799" cy="3324479"/>
            </a:xfrm>
            <a:custGeom>
              <a:avLst/>
              <a:gdLst/>
              <a:ahLst/>
              <a:cxnLst/>
              <a:rect l="l" t="t" r="r" b="b"/>
              <a:pathLst>
                <a:path w="10710799" h="3324479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66959" y="0"/>
                  </a:lnTo>
                  <a:cubicBezTo>
                    <a:pt x="10601578" y="0"/>
                    <a:pt x="10710799" y="109220"/>
                    <a:pt x="10710799" y="243840"/>
                  </a:cubicBezTo>
                  <a:lnTo>
                    <a:pt x="10710799" y="3080639"/>
                  </a:lnTo>
                  <a:cubicBezTo>
                    <a:pt x="10710799" y="3215259"/>
                    <a:pt x="10601578" y="3324479"/>
                    <a:pt x="10466959" y="3324479"/>
                  </a:cubicBezTo>
                  <a:lnTo>
                    <a:pt x="243840" y="3324479"/>
                  </a:lnTo>
                  <a:cubicBezTo>
                    <a:pt x="109220" y="3324479"/>
                    <a:pt x="0" y="3215259"/>
                    <a:pt x="0" y="308063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80627" y="3778453"/>
            <a:ext cx="8033147" cy="152400"/>
            <a:chOff x="0" y="0"/>
            <a:chExt cx="10710862" cy="203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10926" cy="203200"/>
            </a:xfrm>
            <a:custGeom>
              <a:avLst/>
              <a:gdLst/>
              <a:ahLst/>
              <a:cxnLst/>
              <a:rect l="l" t="t" r="r" b="b"/>
              <a:pathLst>
                <a:path w="10710926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609326" y="0"/>
                  </a:lnTo>
                  <a:cubicBezTo>
                    <a:pt x="10665460" y="0"/>
                    <a:pt x="10710926" y="45466"/>
                    <a:pt x="10710926" y="101600"/>
                  </a:cubicBezTo>
                  <a:cubicBezTo>
                    <a:pt x="10710926" y="157734"/>
                    <a:pt x="10665460" y="203200"/>
                    <a:pt x="10609326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879657" y="3399082"/>
            <a:ext cx="835076" cy="835076"/>
            <a:chOff x="0" y="0"/>
            <a:chExt cx="1113434" cy="11134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13409" cy="1113409"/>
            </a:xfrm>
            <a:custGeom>
              <a:avLst/>
              <a:gdLst/>
              <a:ahLst/>
              <a:cxnLst/>
              <a:rect l="l" t="t" r="r" b="b"/>
              <a:pathLst>
                <a:path w="1113409" h="1113409">
                  <a:moveTo>
                    <a:pt x="0" y="556768"/>
                  </a:moveTo>
                  <a:cubicBezTo>
                    <a:pt x="0" y="249301"/>
                    <a:pt x="249301" y="0"/>
                    <a:pt x="556768" y="0"/>
                  </a:cubicBezTo>
                  <a:cubicBezTo>
                    <a:pt x="864235" y="0"/>
                    <a:pt x="1113409" y="249301"/>
                    <a:pt x="1113409" y="556768"/>
                  </a:cubicBezTo>
                  <a:cubicBezTo>
                    <a:pt x="1113409" y="864235"/>
                    <a:pt x="864235" y="1113409"/>
                    <a:pt x="556768" y="1113409"/>
                  </a:cubicBezTo>
                  <a:cubicBezTo>
                    <a:pt x="249301" y="1113409"/>
                    <a:pt x="0" y="864235"/>
                    <a:pt x="0" y="556768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130136" y="3512639"/>
            <a:ext cx="333966" cy="51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97028" y="4502944"/>
            <a:ext cx="3479597" cy="44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Daily Averages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97028" y="5035001"/>
            <a:ext cx="7400334" cy="958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Average calories burned per day, offering a quick performance benchmark.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74227" y="7000580"/>
            <a:ext cx="8033147" cy="2493321"/>
            <a:chOff x="0" y="0"/>
            <a:chExt cx="10710862" cy="332442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710799" cy="3324479"/>
            </a:xfrm>
            <a:custGeom>
              <a:avLst/>
              <a:gdLst/>
              <a:ahLst/>
              <a:cxnLst/>
              <a:rect l="l" t="t" r="r" b="b"/>
              <a:pathLst>
                <a:path w="10710799" h="3324479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66959" y="0"/>
                  </a:lnTo>
                  <a:cubicBezTo>
                    <a:pt x="10601578" y="0"/>
                    <a:pt x="10710799" y="109220"/>
                    <a:pt x="10710799" y="243840"/>
                  </a:cubicBezTo>
                  <a:lnTo>
                    <a:pt x="10710799" y="3080639"/>
                  </a:lnTo>
                  <a:cubicBezTo>
                    <a:pt x="10710799" y="3215259"/>
                    <a:pt x="10601578" y="3324479"/>
                    <a:pt x="10466959" y="3324479"/>
                  </a:cubicBezTo>
                  <a:lnTo>
                    <a:pt x="243840" y="3324479"/>
                  </a:lnTo>
                  <a:cubicBezTo>
                    <a:pt x="109220" y="3324479"/>
                    <a:pt x="0" y="3215259"/>
                    <a:pt x="0" y="308063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4227" y="6962480"/>
            <a:ext cx="8033147" cy="152400"/>
            <a:chOff x="0" y="0"/>
            <a:chExt cx="10710862" cy="203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710926" cy="203200"/>
            </a:xfrm>
            <a:custGeom>
              <a:avLst/>
              <a:gdLst/>
              <a:ahLst/>
              <a:cxnLst/>
              <a:rect l="l" t="t" r="r" b="b"/>
              <a:pathLst>
                <a:path w="10710926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609326" y="0"/>
                  </a:lnTo>
                  <a:cubicBezTo>
                    <a:pt x="10665460" y="0"/>
                    <a:pt x="10710926" y="45466"/>
                    <a:pt x="10710926" y="101600"/>
                  </a:cubicBezTo>
                  <a:cubicBezTo>
                    <a:pt x="10710926" y="157734"/>
                    <a:pt x="10665460" y="203200"/>
                    <a:pt x="10609326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73267" y="6583118"/>
            <a:ext cx="835076" cy="835076"/>
            <a:chOff x="0" y="0"/>
            <a:chExt cx="1113434" cy="111343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13409" cy="1113409"/>
            </a:xfrm>
            <a:custGeom>
              <a:avLst/>
              <a:gdLst/>
              <a:ahLst/>
              <a:cxnLst/>
              <a:rect l="l" t="t" r="r" b="b"/>
              <a:pathLst>
                <a:path w="1113409" h="1113409">
                  <a:moveTo>
                    <a:pt x="0" y="556768"/>
                  </a:moveTo>
                  <a:cubicBezTo>
                    <a:pt x="0" y="249301"/>
                    <a:pt x="249301" y="0"/>
                    <a:pt x="556768" y="0"/>
                  </a:cubicBezTo>
                  <a:cubicBezTo>
                    <a:pt x="864235" y="0"/>
                    <a:pt x="1113409" y="249301"/>
                    <a:pt x="1113409" y="556768"/>
                  </a:cubicBezTo>
                  <a:cubicBezTo>
                    <a:pt x="1113409" y="864235"/>
                    <a:pt x="864235" y="1113409"/>
                    <a:pt x="556768" y="1113409"/>
                  </a:cubicBezTo>
                  <a:cubicBezTo>
                    <a:pt x="249301" y="1113409"/>
                    <a:pt x="0" y="864235"/>
                    <a:pt x="0" y="556768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823746" y="6696666"/>
            <a:ext cx="333966" cy="51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90638" y="7686970"/>
            <a:ext cx="3479597" cy="44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Peak Performance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90638" y="8219037"/>
            <a:ext cx="7400334" cy="958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Identification of the "best day" with the maximum steps, highlighting achievements.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280627" y="7000580"/>
            <a:ext cx="8033147" cy="2493321"/>
            <a:chOff x="0" y="0"/>
            <a:chExt cx="10710862" cy="332442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710799" cy="3324479"/>
            </a:xfrm>
            <a:custGeom>
              <a:avLst/>
              <a:gdLst/>
              <a:ahLst/>
              <a:cxnLst/>
              <a:rect l="l" t="t" r="r" b="b"/>
              <a:pathLst>
                <a:path w="10710799" h="3324479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66959" y="0"/>
                  </a:lnTo>
                  <a:cubicBezTo>
                    <a:pt x="10601578" y="0"/>
                    <a:pt x="10710799" y="109220"/>
                    <a:pt x="10710799" y="243840"/>
                  </a:cubicBezTo>
                  <a:lnTo>
                    <a:pt x="10710799" y="3080639"/>
                  </a:lnTo>
                  <a:cubicBezTo>
                    <a:pt x="10710799" y="3215259"/>
                    <a:pt x="10601578" y="3324479"/>
                    <a:pt x="10466959" y="3324479"/>
                  </a:cubicBezTo>
                  <a:lnTo>
                    <a:pt x="243840" y="3324479"/>
                  </a:lnTo>
                  <a:cubicBezTo>
                    <a:pt x="109220" y="3324479"/>
                    <a:pt x="0" y="3215259"/>
                    <a:pt x="0" y="308063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280627" y="6962480"/>
            <a:ext cx="8033147" cy="152400"/>
            <a:chOff x="0" y="0"/>
            <a:chExt cx="10710862" cy="203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710926" cy="203200"/>
            </a:xfrm>
            <a:custGeom>
              <a:avLst/>
              <a:gdLst/>
              <a:ahLst/>
              <a:cxnLst/>
              <a:rect l="l" t="t" r="r" b="b"/>
              <a:pathLst>
                <a:path w="10710926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609326" y="0"/>
                  </a:lnTo>
                  <a:cubicBezTo>
                    <a:pt x="10665460" y="0"/>
                    <a:pt x="10710926" y="45466"/>
                    <a:pt x="10710926" y="101600"/>
                  </a:cubicBezTo>
                  <a:cubicBezTo>
                    <a:pt x="10710926" y="157734"/>
                    <a:pt x="10665460" y="203200"/>
                    <a:pt x="10609326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879657" y="6583118"/>
            <a:ext cx="835076" cy="835076"/>
            <a:chOff x="0" y="0"/>
            <a:chExt cx="1113434" cy="111343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13409" cy="1113409"/>
            </a:xfrm>
            <a:custGeom>
              <a:avLst/>
              <a:gdLst/>
              <a:ahLst/>
              <a:cxnLst/>
              <a:rect l="l" t="t" r="r" b="b"/>
              <a:pathLst>
                <a:path w="1113409" h="1113409">
                  <a:moveTo>
                    <a:pt x="0" y="556768"/>
                  </a:moveTo>
                  <a:cubicBezTo>
                    <a:pt x="0" y="249301"/>
                    <a:pt x="249301" y="0"/>
                    <a:pt x="556768" y="0"/>
                  </a:cubicBezTo>
                  <a:cubicBezTo>
                    <a:pt x="864235" y="0"/>
                    <a:pt x="1113409" y="249301"/>
                    <a:pt x="1113409" y="556768"/>
                  </a:cubicBezTo>
                  <a:cubicBezTo>
                    <a:pt x="1113409" y="864235"/>
                    <a:pt x="864235" y="1113409"/>
                    <a:pt x="556768" y="1113409"/>
                  </a:cubicBezTo>
                  <a:cubicBezTo>
                    <a:pt x="249301" y="1113409"/>
                    <a:pt x="0" y="864235"/>
                    <a:pt x="0" y="556768"/>
                  </a:cubicBezTo>
                  <a:close/>
                </a:path>
              </a:pathLst>
            </a:custGeom>
            <a:solidFill>
              <a:srgbClr val="4950B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3130136" y="6696666"/>
            <a:ext cx="333966" cy="51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62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597028" y="7686970"/>
            <a:ext cx="3479597" cy="44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Goal Achievement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597028" y="8219037"/>
            <a:ext cx="7400334" cy="958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breakdown of days where the step goal was met vs. not met, and the total count.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154754"/>
            <a:ext cx="11672145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Hydration Check &amp; BMI Calculator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758973"/>
            <a:ext cx="391760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Low Water Intake Alert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418732"/>
            <a:ext cx="5256457" cy="2807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tracker also monitors hydration, flagging days where water consumption falls below the recommended 2-liter threshold. This helps users maintain optimal fluid balance.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2238" y="6545161"/>
            <a:ext cx="5256457" cy="2239566"/>
            <a:chOff x="0" y="0"/>
            <a:chExt cx="7008609" cy="29860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008622" cy="2986024"/>
            </a:xfrm>
            <a:custGeom>
              <a:avLst/>
              <a:gdLst/>
              <a:ahLst/>
              <a:cxnLst/>
              <a:rect l="l" t="t" r="r" b="b"/>
              <a:pathLst>
                <a:path w="7008622" h="2986024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849872" y="0"/>
                  </a:lnTo>
                  <a:cubicBezTo>
                    <a:pt x="6937502" y="0"/>
                    <a:pt x="7008622" y="71120"/>
                    <a:pt x="7008622" y="158750"/>
                  </a:cubicBezTo>
                  <a:lnTo>
                    <a:pt x="7008622" y="2827274"/>
                  </a:lnTo>
                  <a:cubicBezTo>
                    <a:pt x="7008622" y="2914904"/>
                    <a:pt x="6937502" y="2986024"/>
                    <a:pt x="6849872" y="2986024"/>
                  </a:cubicBezTo>
                  <a:lnTo>
                    <a:pt x="158750" y="2986024"/>
                  </a:lnTo>
                  <a:cubicBezTo>
                    <a:pt x="71120" y="2986024"/>
                    <a:pt x="0" y="2914904"/>
                    <a:pt x="0" y="2827274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8103" y="6545161"/>
            <a:ext cx="5284737" cy="2239566"/>
            <a:chOff x="0" y="0"/>
            <a:chExt cx="7046316" cy="29860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46468" cy="2986151"/>
            </a:xfrm>
            <a:custGeom>
              <a:avLst/>
              <a:gdLst/>
              <a:ahLst/>
              <a:cxnLst/>
              <a:rect l="l" t="t" r="r" b="b"/>
              <a:pathLst>
                <a:path w="7046468" h="2986151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89699" y="0"/>
                  </a:lnTo>
                  <a:cubicBezTo>
                    <a:pt x="7021068" y="0"/>
                    <a:pt x="7046468" y="25400"/>
                    <a:pt x="7046468" y="56769"/>
                  </a:cubicBezTo>
                  <a:lnTo>
                    <a:pt x="7046468" y="2929382"/>
                  </a:lnTo>
                  <a:cubicBezTo>
                    <a:pt x="7046468" y="2960751"/>
                    <a:pt x="7021068" y="2986151"/>
                    <a:pt x="6989699" y="2986151"/>
                  </a:cubicBezTo>
                  <a:lnTo>
                    <a:pt x="56769" y="2986151"/>
                  </a:lnTo>
                  <a:cubicBezTo>
                    <a:pt x="25400" y="2986151"/>
                    <a:pt x="0" y="2960751"/>
                    <a:pt x="0" y="2929382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6406500"/>
            <a:ext cx="6894574" cy="285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6"/>
              </a:lnSpc>
            </a:pPr>
            <a:r>
              <a:rPr lang="en-US" sz="3196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if (water[i] &lt; 2) {</a:t>
            </a:r>
          </a:p>
          <a:p>
            <a:pPr algn="l">
              <a:lnSpc>
                <a:spcPts val="5206"/>
              </a:lnSpc>
            </a:pPr>
            <a:r>
              <a:rPr lang="en-US" sz="3196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 printf("Day %d", i);</a:t>
            </a:r>
          </a:p>
          <a:p>
            <a:pPr algn="l">
              <a:lnSpc>
                <a:spcPts val="5206"/>
              </a:lnSpc>
            </a:pPr>
            <a:r>
              <a:rPr lang="en-US" sz="3196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algn="l">
              <a:lnSpc>
                <a:spcPts val="5206"/>
              </a:lnSpc>
            </a:pPr>
            <a:r>
              <a:rPr lang="en-US" sz="3196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949973" y="2909297"/>
            <a:ext cx="10355161" cy="5779589"/>
            <a:chOff x="0" y="0"/>
            <a:chExt cx="13806881" cy="7706119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3806932" cy="7706106"/>
            </a:xfrm>
            <a:custGeom>
              <a:avLst/>
              <a:gdLst/>
              <a:ahLst/>
              <a:cxnLst/>
              <a:rect l="l" t="t" r="r" b="b"/>
              <a:pathLst>
                <a:path w="13806932" h="7706106">
                  <a:moveTo>
                    <a:pt x="0" y="0"/>
                  </a:moveTo>
                  <a:lnTo>
                    <a:pt x="13806932" y="0"/>
                  </a:lnTo>
                  <a:lnTo>
                    <a:pt x="13806932" y="7706106"/>
                  </a:lnTo>
                  <a:lnTo>
                    <a:pt x="0" y="7706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5" b="-2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240927"/>
            <a:ext cx="15070036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BMI Categories: Understanding Your Health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246834"/>
            <a:ext cx="5256457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After calculating your BMI, the program classifies your result into standard health categories, providing immediate context: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5316436"/>
            <a:ext cx="5256457" cy="280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Underweight: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BMI less than 18.5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Normal weight: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BMI between 18.5 and 24.9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Overweight: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BMI between 25 and 29.9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Obese: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BMI 30 or greater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949973" y="2899620"/>
            <a:ext cx="10355161" cy="5477170"/>
            <a:chOff x="0" y="0"/>
            <a:chExt cx="13806881" cy="7302894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806932" cy="7302881"/>
            </a:xfrm>
            <a:custGeom>
              <a:avLst/>
              <a:gdLst/>
              <a:ahLst/>
              <a:cxnLst/>
              <a:rect l="l" t="t" r="r" b="b"/>
              <a:pathLst>
                <a:path w="13806932" h="7302881">
                  <a:moveTo>
                    <a:pt x="0" y="0"/>
                  </a:moveTo>
                  <a:lnTo>
                    <a:pt x="13806932" y="0"/>
                  </a:lnTo>
                  <a:lnTo>
                    <a:pt x="13806932" y="7302881"/>
                  </a:lnTo>
                  <a:lnTo>
                    <a:pt x="0" y="7302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" b="-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315352" y="8117700"/>
            <a:ext cx="283521" cy="283521"/>
            <a:chOff x="0" y="0"/>
            <a:chExt cx="378028" cy="3780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8079" cy="378079"/>
            </a:xfrm>
            <a:custGeom>
              <a:avLst/>
              <a:gdLst/>
              <a:ahLst/>
              <a:cxnLst/>
              <a:rect l="l" t="t" r="r" b="b"/>
              <a:pathLst>
                <a:path w="378079" h="37807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47599" y="0"/>
                  </a:lnTo>
                  <a:cubicBezTo>
                    <a:pt x="364490" y="0"/>
                    <a:pt x="378079" y="13589"/>
                    <a:pt x="378079" y="30480"/>
                  </a:cubicBezTo>
                  <a:lnTo>
                    <a:pt x="378079" y="347599"/>
                  </a:lnTo>
                  <a:cubicBezTo>
                    <a:pt x="378079" y="364490"/>
                    <a:pt x="364490" y="378079"/>
                    <a:pt x="347599" y="378079"/>
                  </a:cubicBezTo>
                  <a:lnTo>
                    <a:pt x="30480" y="378079"/>
                  </a:lnTo>
                  <a:cubicBezTo>
                    <a:pt x="13589" y="378079"/>
                    <a:pt x="0" y="364490"/>
                    <a:pt x="0" y="347599"/>
                  </a:cubicBezTo>
                  <a:close/>
                </a:path>
              </a:pathLst>
            </a:custGeom>
            <a:solidFill>
              <a:srgbClr val="15173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675064" y="8165325"/>
            <a:ext cx="1720748" cy="235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Underweight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144125" y="8117700"/>
            <a:ext cx="283521" cy="283521"/>
            <a:chOff x="0" y="0"/>
            <a:chExt cx="378028" cy="3780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78079" cy="378079"/>
            </a:xfrm>
            <a:custGeom>
              <a:avLst/>
              <a:gdLst/>
              <a:ahLst/>
              <a:cxnLst/>
              <a:rect l="l" t="t" r="r" b="b"/>
              <a:pathLst>
                <a:path w="378079" h="37807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47599" y="0"/>
                  </a:lnTo>
                  <a:cubicBezTo>
                    <a:pt x="364490" y="0"/>
                    <a:pt x="378079" y="13589"/>
                    <a:pt x="378079" y="30480"/>
                  </a:cubicBezTo>
                  <a:lnTo>
                    <a:pt x="378079" y="347599"/>
                  </a:lnTo>
                  <a:cubicBezTo>
                    <a:pt x="378079" y="364490"/>
                    <a:pt x="364490" y="378079"/>
                    <a:pt x="347599" y="378079"/>
                  </a:cubicBezTo>
                  <a:lnTo>
                    <a:pt x="30480" y="378079"/>
                  </a:lnTo>
                  <a:cubicBezTo>
                    <a:pt x="13589" y="378079"/>
                    <a:pt x="0" y="364490"/>
                    <a:pt x="0" y="347599"/>
                  </a:cubicBezTo>
                  <a:close/>
                </a:path>
              </a:pathLst>
            </a:custGeom>
            <a:solidFill>
              <a:srgbClr val="2E337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503846" y="8165325"/>
            <a:ext cx="970512" cy="235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Normal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496209" y="8117700"/>
            <a:ext cx="283521" cy="283521"/>
            <a:chOff x="0" y="0"/>
            <a:chExt cx="378028" cy="3780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8079" cy="378079"/>
            </a:xfrm>
            <a:custGeom>
              <a:avLst/>
              <a:gdLst/>
              <a:ahLst/>
              <a:cxnLst/>
              <a:rect l="l" t="t" r="r" b="b"/>
              <a:pathLst>
                <a:path w="378079" h="37807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47599" y="0"/>
                  </a:lnTo>
                  <a:cubicBezTo>
                    <a:pt x="364490" y="0"/>
                    <a:pt x="378079" y="13589"/>
                    <a:pt x="378079" y="30480"/>
                  </a:cubicBezTo>
                  <a:lnTo>
                    <a:pt x="378079" y="347599"/>
                  </a:lnTo>
                  <a:cubicBezTo>
                    <a:pt x="378079" y="364490"/>
                    <a:pt x="364490" y="378079"/>
                    <a:pt x="347599" y="378079"/>
                  </a:cubicBezTo>
                  <a:lnTo>
                    <a:pt x="30480" y="378079"/>
                  </a:lnTo>
                  <a:cubicBezTo>
                    <a:pt x="13589" y="378079"/>
                    <a:pt x="0" y="364490"/>
                    <a:pt x="0" y="347599"/>
                  </a:cubicBezTo>
                  <a:close/>
                </a:path>
              </a:pathLst>
            </a:custGeom>
            <a:solidFill>
              <a:srgbClr val="4C53B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855921" y="8165325"/>
            <a:ext cx="1539326" cy="235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Overweight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4859152" y="8117700"/>
            <a:ext cx="283521" cy="283521"/>
            <a:chOff x="0" y="0"/>
            <a:chExt cx="378028" cy="3780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8079" cy="378079"/>
            </a:xfrm>
            <a:custGeom>
              <a:avLst/>
              <a:gdLst/>
              <a:ahLst/>
              <a:cxnLst/>
              <a:rect l="l" t="t" r="r" b="b"/>
              <a:pathLst>
                <a:path w="378079" h="37807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47599" y="0"/>
                  </a:lnTo>
                  <a:cubicBezTo>
                    <a:pt x="364490" y="0"/>
                    <a:pt x="378079" y="13589"/>
                    <a:pt x="378079" y="30480"/>
                  </a:cubicBezTo>
                  <a:lnTo>
                    <a:pt x="378079" y="347599"/>
                  </a:lnTo>
                  <a:cubicBezTo>
                    <a:pt x="378079" y="364490"/>
                    <a:pt x="364490" y="378079"/>
                    <a:pt x="347599" y="378079"/>
                  </a:cubicBezTo>
                  <a:lnTo>
                    <a:pt x="30480" y="378079"/>
                  </a:lnTo>
                  <a:cubicBezTo>
                    <a:pt x="13589" y="378079"/>
                    <a:pt x="0" y="364490"/>
                    <a:pt x="0" y="347599"/>
                  </a:cubicBezTo>
                  <a:close/>
                </a:path>
              </a:pathLst>
            </a:custGeom>
            <a:solidFill>
              <a:srgbClr val="9195D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5218864" y="8165325"/>
            <a:ext cx="870194" cy="235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Obese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52804A-9083-7A62-EAE9-B52A644D8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56"/>
            <a:ext cx="9067800" cy="10260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0AC192-08C3-AA47-8912-9E9C11848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-28575"/>
            <a:ext cx="9210675" cy="1031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98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253065" y="370732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Full C Code Output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53065" y="964854"/>
            <a:ext cx="9781880" cy="349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complete C code integrates all features: daily tracking, fitness summary, hydration alerts, and BMI calculation, offering a robust foundation for a personal fitness tracker.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C452BE-4283-20BB-2B51-33998D1F0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4603"/>
            <a:ext cx="18288000" cy="89723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645</Words>
  <Application>Microsoft Office PowerPoint</Application>
  <PresentationFormat>Custom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Inter Bold</vt:lpstr>
      <vt:lpstr>Calibri</vt:lpstr>
      <vt:lpstr>Inter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abhishaurya</dc:creator>
  <cp:lastModifiedBy>Abhishaurya Gautam</cp:lastModifiedBy>
  <cp:revision>6</cp:revision>
  <dcterms:created xsi:type="dcterms:W3CDTF">2006-08-16T00:00:00Z</dcterms:created>
  <dcterms:modified xsi:type="dcterms:W3CDTF">2026-04-13T19:11:48Z</dcterms:modified>
  <dc:identifier>DAHBInpaXzE</dc:identifier>
</cp:coreProperties>
</file>